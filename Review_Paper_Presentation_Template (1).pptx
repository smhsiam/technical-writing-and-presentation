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26F1315-7621-4D25-A716-418735E1CAAB}" v="2" dt="2026-09-17T21:10:09.4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Reported accuracy (%)</c:v>
                </c:pt>
              </c:strCache>
            </c:strRef>
          </c:tx>
          <c:spPr>
            <a:solidFill>
              <a:srgbClr val="0A2342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[1] 2019</c:v>
                </c:pt>
                <c:pt idx="1">
                  <c:v>[2] 2020</c:v>
                </c:pt>
                <c:pt idx="2">
                  <c:v>[3] 2021</c:v>
                </c:pt>
                <c:pt idx="3">
                  <c:v>[4] 2022</c:v>
                </c:pt>
                <c:pt idx="4">
                  <c:v>[5] 2023</c:v>
                </c:pt>
                <c:pt idx="5">
                  <c:v>[6] 2024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78</c:v>
                </c:pt>
                <c:pt idx="1">
                  <c:v>82</c:v>
                </c:pt>
                <c:pt idx="2">
                  <c:v>85</c:v>
                </c:pt>
                <c:pt idx="3">
                  <c:v>88</c:v>
                </c:pt>
                <c:pt idx="4">
                  <c:v>90</c:v>
                </c:pt>
                <c:pt idx="5">
                  <c:v>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6F7-4BB7-967A-62FB3744C8D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70"/>
        </c:scaling>
        <c:delete val="0"/>
        <c:axPos val="l"/>
        <c:majorGridlines>
          <c:spPr>
            <a:ln w="12700" cap="flat">
              <a:solidFill>
                <a:srgbClr val="E6EA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53430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Greet, say your name and department, then read out the paper title. Keep this slide to about 20 seconds. Replace every text inside brackets before you record.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six points quickly. Do not explain them here. 20 seconds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wide, then narrow down. About 1 minute. Speak, do not read the bullets word by word.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most important slide of the first half. Say clearly what is missing in the existing research. 45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or four objectives are enough. Read them one by one. 30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read every paper one by one like a list. Group them and compare. Around 1 minute for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this group with the previous one. Say which group performs better and why. Around 1 minute.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table carries most of your marks. Do not read the whole table aloud. Point out two or three interesting rows only. About 45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flow diagram from top to bottom. This is compulsory in the paper, so show it here too. About 1 minute.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axes first, then the trend. Do not read every bar. About 1 minute.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where you show your own thinking. Say at least one critical point about the papers you read. About 1 minute.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three findings. If you have more, keep them for the question round. 45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Saying the limitation of your own work is a strength, not a weakness. 40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Repeat the main findings in short. 30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the audience and stop. Do not add anything after this slide. 20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" y="6263640"/>
            <a:ext cx="10698480" cy="0"/>
          </a:xfrm>
          <a:prstGeom prst="line">
            <a:avLst/>
          </a:prstGeom>
          <a:noFill/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49808" y="6419088"/>
            <a:ext cx="5577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Computer Science and Engineering  |  NUBTK</a:t>
            </a:r>
            <a:endParaRPr lang="en-US" sz="7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36792"/>
            <a:ext cx="11201400" cy="0"/>
          </a:xfrm>
          <a:prstGeom prst="line">
            <a:avLst/>
          </a:prstGeom>
          <a:noFill/>
          <a:ln w="1016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73952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Paper Presentation  |  NUBTK</a:t>
            </a:r>
            <a:endParaRPr lang="en-US" sz="74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" y="804672"/>
            <a:ext cx="443484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3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PAPER</a:t>
            </a:r>
            <a:endParaRPr lang="en-US" sz="3300" dirty="0"/>
          </a:p>
          <a:p>
            <a:pPr marL="0" indent="0">
              <a:buNone/>
            </a:pPr>
            <a:r>
              <a:rPr lang="en-US" sz="33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440680" y="777240"/>
            <a:ext cx="0" cy="4800600"/>
          </a:xfrm>
          <a:prstGeom prst="line">
            <a:avLst/>
          </a:prstGeom>
          <a:noFill/>
          <a:ln w="1524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806440" y="932688"/>
            <a:ext cx="5440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 Write Your Full Paper Title Here ]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806440" y="19933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Your Full Name ]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5806440" y="2340864"/>
            <a:ext cx="5029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ID: [ ID ]   |   Section: [ __ ]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806440" y="2788920"/>
            <a:ext cx="5212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Computer Science and Engineering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Northern University of Business and Technology Khulna, Bangladesh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806440" y="3694176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your.email@nubtkhulna.ac.bd ]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Date ]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1228832" y="643737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93192"/>
            <a:ext cx="85953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84124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 will cover in this presentation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58368" y="1161288"/>
            <a:ext cx="1051560" cy="0"/>
          </a:xfrm>
          <a:prstGeom prst="line">
            <a:avLst/>
          </a:prstGeom>
          <a:noFill/>
          <a:ln w="1905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16184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3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463040" y="160020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1947672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 and motivation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1463040" y="2276856"/>
            <a:ext cx="4389120" cy="0"/>
          </a:xfrm>
          <a:prstGeom prst="line">
            <a:avLst/>
          </a:prstGeom>
          <a:noFill/>
          <a:ln w="7620">
            <a:solidFill>
              <a:srgbClr val="C8D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68680" y="285292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3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63040" y="283464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&amp; Objective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63040" y="3182112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 this review addresses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463040" y="3511296"/>
            <a:ext cx="4389120" cy="0"/>
          </a:xfrm>
          <a:prstGeom prst="line">
            <a:avLst/>
          </a:prstGeom>
          <a:noFill/>
          <a:ln w="7620">
            <a:solidFill>
              <a:srgbClr val="C8D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68680" y="408736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3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63040" y="406908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Review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63040" y="4416552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selected papers, grouped by method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463040" y="4745736"/>
            <a:ext cx="4389120" cy="0"/>
          </a:xfrm>
          <a:prstGeom prst="line">
            <a:avLst/>
          </a:prstGeom>
          <a:noFill/>
          <a:ln w="7620">
            <a:solidFill>
              <a:srgbClr val="C8D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0" y="16184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3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995160" y="160020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995160" y="1947672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papers were selected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995160" y="2276856"/>
            <a:ext cx="4389120" cy="0"/>
          </a:xfrm>
          <a:prstGeom prst="line">
            <a:avLst/>
          </a:prstGeom>
          <a:noFill/>
          <a:ln w="7620">
            <a:solidFill>
              <a:srgbClr val="C8D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00800" y="285292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3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995160" y="283464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&amp; Discussion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995160" y="3182112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and findings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995160" y="3511296"/>
            <a:ext cx="4389120" cy="0"/>
          </a:xfrm>
          <a:prstGeom prst="line">
            <a:avLst/>
          </a:prstGeom>
          <a:noFill/>
          <a:ln w="7620">
            <a:solidFill>
              <a:srgbClr val="C8D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400800" y="408736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3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06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995160" y="406908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995160" y="4416552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 and future scope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995160" y="4745736"/>
            <a:ext cx="4389120" cy="0"/>
          </a:xfrm>
          <a:prstGeom prst="line">
            <a:avLst/>
          </a:prstGeom>
          <a:noFill/>
          <a:ln w="7620">
            <a:solidFill>
              <a:srgbClr val="C8D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11228832" y="643737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93192"/>
            <a:ext cx="85953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84124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 of the field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58368" y="1161288"/>
            <a:ext cx="1051560" cy="0"/>
          </a:xfrm>
          <a:prstGeom prst="line">
            <a:avLst/>
          </a:prstGeom>
          <a:noFill/>
          <a:ln w="1905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1609344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24712" y="160020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What is this field and why is it important ]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157984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24712" y="214884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One real fact or number that shows the importance ]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706624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24712" y="26974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What researchers are doing now in this area ]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3255264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24712" y="32461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Which techniques are commonly used ]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903720" y="1417320"/>
            <a:ext cx="3886200" cy="40233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8D1DC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 a figure, photo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simple icon here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1228832" y="643737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93192"/>
            <a:ext cx="85953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84124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 in existing research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58368" y="1161288"/>
            <a:ext cx="1051560" cy="0"/>
          </a:xfrm>
          <a:prstGeom prst="line">
            <a:avLst/>
          </a:prstGeom>
          <a:noFill/>
          <a:ln w="1905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58191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23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2960" y="1975104"/>
            <a:ext cx="2286000" cy="0"/>
          </a:xfrm>
          <a:prstGeom prst="line">
            <a:avLst/>
          </a:prstGeom>
          <a:noFill/>
          <a:ln w="1524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221284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2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1</a:t>
            </a:r>
            <a:endParaRPr lang="en-US" sz="1720" dirty="0"/>
          </a:p>
        </p:txBody>
      </p:sp>
      <p:sp>
        <p:nvSpPr>
          <p:cNvPr id="8" name="Text 6"/>
          <p:cNvSpPr/>
          <p:nvPr/>
        </p:nvSpPr>
        <p:spPr>
          <a:xfrm>
            <a:off x="822960" y="2633472"/>
            <a:ext cx="2971800" cy="10241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Write the first limitation you found in the existing works ]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26280" y="158191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23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526280" y="1975104"/>
            <a:ext cx="2286000" cy="0"/>
          </a:xfrm>
          <a:prstGeom prst="line">
            <a:avLst/>
          </a:prstGeom>
          <a:noFill/>
          <a:ln w="1524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26280" y="221284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2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2</a:t>
            </a:r>
            <a:endParaRPr lang="en-US" sz="1720" dirty="0"/>
          </a:p>
        </p:txBody>
      </p:sp>
      <p:sp>
        <p:nvSpPr>
          <p:cNvPr id="12" name="Text 10"/>
          <p:cNvSpPr/>
          <p:nvPr/>
        </p:nvSpPr>
        <p:spPr>
          <a:xfrm>
            <a:off x="4526280" y="2633472"/>
            <a:ext cx="2971800" cy="10241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Write the second limitation you found in the existing works ]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229600" y="158191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23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229600" y="1975104"/>
            <a:ext cx="2286000" cy="0"/>
          </a:xfrm>
          <a:prstGeom prst="line">
            <a:avLst/>
          </a:prstGeom>
          <a:noFill/>
          <a:ln w="1524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229600" y="221284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2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3</a:t>
            </a:r>
            <a:endParaRPr lang="en-US" sz="1720" dirty="0"/>
          </a:p>
        </p:txBody>
      </p:sp>
      <p:sp>
        <p:nvSpPr>
          <p:cNvPr id="16" name="Text 14"/>
          <p:cNvSpPr/>
          <p:nvPr/>
        </p:nvSpPr>
        <p:spPr>
          <a:xfrm>
            <a:off x="8229600" y="2633472"/>
            <a:ext cx="2971800" cy="10241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Write the third limitation you found in the existing works ]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143000" y="489204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gaps are the reason this review was carried out.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11228832" y="643737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93192"/>
            <a:ext cx="85953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 of This Review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84124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paper sets out to do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58368" y="1161288"/>
            <a:ext cx="1051560" cy="0"/>
          </a:xfrm>
          <a:prstGeom prst="line">
            <a:avLst/>
          </a:prstGeom>
          <a:noFill/>
          <a:ln w="1905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60120" y="1463040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3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27048" y="1444752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48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recent methods</a:t>
            </a:r>
            <a:endParaRPr lang="en-US" sz="1480" dirty="0"/>
          </a:p>
        </p:txBody>
      </p:sp>
      <p:sp>
        <p:nvSpPr>
          <p:cNvPr id="7" name="Text 5"/>
          <p:cNvSpPr/>
          <p:nvPr/>
        </p:nvSpPr>
        <p:spPr>
          <a:xfrm>
            <a:off x="1527048" y="168249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e.g. to review the recent methods used in this field ]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960120" y="2084832"/>
            <a:ext cx="4846320" cy="0"/>
          </a:xfrm>
          <a:prstGeom prst="line">
            <a:avLst/>
          </a:prstGeom>
          <a:noFill/>
          <a:ln w="7620">
            <a:solidFill>
              <a:srgbClr val="C8D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355080" y="1463040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3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922008" y="1444752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48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datasets and results</a:t>
            </a:r>
            <a:endParaRPr lang="en-US" sz="1480" dirty="0"/>
          </a:p>
        </p:txBody>
      </p:sp>
      <p:sp>
        <p:nvSpPr>
          <p:cNvPr id="11" name="Text 9"/>
          <p:cNvSpPr/>
          <p:nvPr/>
        </p:nvSpPr>
        <p:spPr>
          <a:xfrm>
            <a:off x="6922008" y="168249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e.g. to compare their datasets and reported results ]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355080" y="2084832"/>
            <a:ext cx="4846320" cy="0"/>
          </a:xfrm>
          <a:prstGeom prst="line">
            <a:avLst/>
          </a:prstGeom>
          <a:noFill/>
          <a:ln w="7620">
            <a:solidFill>
              <a:srgbClr val="C8D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60120" y="3017520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3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27048" y="2999232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48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common limitations</a:t>
            </a:r>
            <a:endParaRPr lang="en-US" sz="1480" dirty="0"/>
          </a:p>
        </p:txBody>
      </p:sp>
      <p:sp>
        <p:nvSpPr>
          <p:cNvPr id="15" name="Text 13"/>
          <p:cNvSpPr/>
          <p:nvPr/>
        </p:nvSpPr>
        <p:spPr>
          <a:xfrm>
            <a:off x="1527048" y="323697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e.g. to identify the common limitations ]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60120" y="3639312"/>
            <a:ext cx="4846320" cy="0"/>
          </a:xfrm>
          <a:prstGeom prst="line">
            <a:avLst/>
          </a:prstGeom>
          <a:noFill/>
          <a:ln w="7620">
            <a:solidFill>
              <a:srgbClr val="C8D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355080" y="3017520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3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922008" y="2999232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48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 future directions</a:t>
            </a:r>
            <a:endParaRPr lang="en-US" sz="1480" dirty="0"/>
          </a:p>
        </p:txBody>
      </p:sp>
      <p:sp>
        <p:nvSpPr>
          <p:cNvPr id="19" name="Text 17"/>
          <p:cNvSpPr/>
          <p:nvPr/>
        </p:nvSpPr>
        <p:spPr>
          <a:xfrm>
            <a:off x="6922008" y="323697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e.g. to suggest directions for future research ]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355080" y="3639312"/>
            <a:ext cx="4846320" cy="0"/>
          </a:xfrm>
          <a:prstGeom prst="line">
            <a:avLst/>
          </a:prstGeom>
          <a:noFill/>
          <a:ln w="7620">
            <a:solidFill>
              <a:srgbClr val="C8D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11228832" y="643737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93192"/>
            <a:ext cx="85953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Review — [ Group A ]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84124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example: traditional machine learning based approaches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58368" y="1161288"/>
            <a:ext cx="1051560" cy="0"/>
          </a:xfrm>
          <a:prstGeom prst="line">
            <a:avLst/>
          </a:prstGeom>
          <a:noFill/>
          <a:ln w="1905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426464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078992" y="1417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Author ] et al. [1] — used [ method ] on [ dataset ], reported [ result ].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22960" y="190195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078992" y="1892808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Limitation: [ what they did not do ]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22960" y="237744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078992" y="2368296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Author ] et al. [2] — used [ method ], reported [ result ].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22960" y="285292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078992" y="2843784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Limitation: [ what they did not do ]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22960" y="3328416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078992" y="331927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observation in this group: [ your own comment ]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315200" y="1554480"/>
            <a:ext cx="3474720" cy="33832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8D1DC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 a figure from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reviewed work,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a small table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1228832" y="643737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93192"/>
            <a:ext cx="85953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Review — [ Group B ]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84124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example: deep learning based approaches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58368" y="1161288"/>
            <a:ext cx="1051560" cy="0"/>
          </a:xfrm>
          <a:prstGeom prst="line">
            <a:avLst/>
          </a:prstGeom>
          <a:noFill/>
          <a:ln w="1905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897880" y="1426464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153912" y="14173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Author ] et al. [3] — used [ method ] on [ dataset ], reported [ result ].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897880" y="190195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153912" y="1892808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Author ] et al. [4] — improved it by [ what they changed ].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897880" y="237744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153912" y="2368296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Author ] et al. [5] — reported the best result of [ value ].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897880" y="285292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153912" y="2843784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 seen in this group: [ your own comment ].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897880" y="3328416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153912" y="3319272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this group differs from Group A: [ your comparison ].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68680" y="1536192"/>
            <a:ext cx="3977640" cy="349300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8D1DC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 a figure, model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 or chart here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1228832" y="643737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93192"/>
            <a:ext cx="85953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of the Reviewed Papers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84124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this table with your own — keep it sorted by year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58368" y="1161288"/>
            <a:ext cx="1051560" cy="0"/>
          </a:xfrm>
          <a:prstGeom prst="line">
            <a:avLst/>
          </a:prstGeom>
          <a:noFill/>
          <a:ln w="1905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94360" y="1389888"/>
            <a:ext cx="10972800" cy="0"/>
          </a:xfrm>
          <a:prstGeom prst="line">
            <a:avLst/>
          </a:prstGeom>
          <a:noFill/>
          <a:ln w="7620">
            <a:solidFill>
              <a:srgbClr val="C8D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94360" y="1847088"/>
            <a:ext cx="10972800" cy="0"/>
          </a:xfrm>
          <a:prstGeom prst="line">
            <a:avLst/>
          </a:prstGeom>
          <a:noFill/>
          <a:ln w="7620">
            <a:solidFill>
              <a:srgbClr val="C8D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94360" y="2304288"/>
            <a:ext cx="10972800" cy="0"/>
          </a:xfrm>
          <a:prstGeom prst="line">
            <a:avLst/>
          </a:prstGeom>
          <a:noFill/>
          <a:ln w="7620">
            <a:solidFill>
              <a:srgbClr val="C8D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94360" y="2761488"/>
            <a:ext cx="10972800" cy="0"/>
          </a:xfrm>
          <a:prstGeom prst="line">
            <a:avLst/>
          </a:prstGeom>
          <a:noFill/>
          <a:ln w="7620">
            <a:solidFill>
              <a:srgbClr val="C8D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94360" y="3218688"/>
            <a:ext cx="10972800" cy="0"/>
          </a:xfrm>
          <a:prstGeom prst="line">
            <a:avLst/>
          </a:prstGeom>
          <a:noFill/>
          <a:ln w="7620">
            <a:solidFill>
              <a:srgbClr val="C8D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94360" y="3675888"/>
            <a:ext cx="10972800" cy="0"/>
          </a:xfrm>
          <a:prstGeom prst="line">
            <a:avLst/>
          </a:prstGeom>
          <a:noFill/>
          <a:ln w="7620">
            <a:solidFill>
              <a:srgbClr val="C8D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94360" y="4133088"/>
            <a:ext cx="10972800" cy="0"/>
          </a:xfrm>
          <a:prstGeom prst="line">
            <a:avLst/>
          </a:prstGeom>
          <a:noFill/>
          <a:ln w="7620">
            <a:solidFill>
              <a:srgbClr val="C8D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94360" y="4590288"/>
            <a:ext cx="10972800" cy="0"/>
          </a:xfrm>
          <a:prstGeom prst="line">
            <a:avLst/>
          </a:prstGeom>
          <a:noFill/>
          <a:ln w="7620">
            <a:solidFill>
              <a:srgbClr val="C8D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94360" y="5047488"/>
            <a:ext cx="10972800" cy="0"/>
          </a:xfrm>
          <a:prstGeom prst="line">
            <a:avLst/>
          </a:prstGeom>
          <a:noFill/>
          <a:ln w="7620">
            <a:solidFill>
              <a:srgbClr val="C8D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94360" y="1389888"/>
            <a:ext cx="0" cy="3657600"/>
          </a:xfrm>
          <a:prstGeom prst="line">
            <a:avLst/>
          </a:prstGeom>
          <a:noFill/>
          <a:ln w="7620">
            <a:solidFill>
              <a:srgbClr val="C8D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234440" y="1389888"/>
            <a:ext cx="0" cy="3657600"/>
          </a:xfrm>
          <a:prstGeom prst="line">
            <a:avLst/>
          </a:prstGeom>
          <a:noFill/>
          <a:ln w="7620">
            <a:solidFill>
              <a:srgbClr val="C8D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057400" y="1389888"/>
            <a:ext cx="0" cy="3657600"/>
          </a:xfrm>
          <a:prstGeom prst="line">
            <a:avLst/>
          </a:prstGeom>
          <a:noFill/>
          <a:ln w="7620">
            <a:solidFill>
              <a:srgbClr val="C8D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434840" y="1389888"/>
            <a:ext cx="0" cy="3657600"/>
          </a:xfrm>
          <a:prstGeom prst="line">
            <a:avLst/>
          </a:prstGeom>
          <a:noFill/>
          <a:ln w="7620">
            <a:solidFill>
              <a:srgbClr val="C8D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446520" y="1389888"/>
            <a:ext cx="0" cy="3657600"/>
          </a:xfrm>
          <a:prstGeom prst="line">
            <a:avLst/>
          </a:prstGeom>
          <a:noFill/>
          <a:ln w="7620">
            <a:solidFill>
              <a:srgbClr val="C8D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909560" y="1389888"/>
            <a:ext cx="0" cy="3657600"/>
          </a:xfrm>
          <a:prstGeom prst="line">
            <a:avLst/>
          </a:prstGeom>
          <a:noFill/>
          <a:ln w="7620">
            <a:solidFill>
              <a:srgbClr val="C8D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1567160" y="1389888"/>
            <a:ext cx="0" cy="3657600"/>
          </a:xfrm>
          <a:prstGeom prst="line">
            <a:avLst/>
          </a:prstGeom>
          <a:noFill/>
          <a:ln w="7620">
            <a:solidFill>
              <a:srgbClr val="C8D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30936" y="1499616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Ref.</a:t>
            </a:r>
            <a:endParaRPr lang="en-US" sz="1070" dirty="0"/>
          </a:p>
        </p:txBody>
      </p:sp>
      <p:sp>
        <p:nvSpPr>
          <p:cNvPr id="22" name="Text 20"/>
          <p:cNvSpPr/>
          <p:nvPr/>
        </p:nvSpPr>
        <p:spPr>
          <a:xfrm>
            <a:off x="1271016" y="149961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</a:t>
            </a:r>
            <a:endParaRPr lang="en-US" sz="1070" dirty="0"/>
          </a:p>
        </p:txBody>
      </p:sp>
      <p:sp>
        <p:nvSpPr>
          <p:cNvPr id="23" name="Text 21"/>
          <p:cNvSpPr/>
          <p:nvPr/>
        </p:nvSpPr>
        <p:spPr>
          <a:xfrm>
            <a:off x="2093976" y="1499616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</a:t>
            </a:r>
            <a:endParaRPr lang="en-US" sz="1070" dirty="0"/>
          </a:p>
        </p:txBody>
      </p:sp>
      <p:sp>
        <p:nvSpPr>
          <p:cNvPr id="24" name="Text 22"/>
          <p:cNvSpPr/>
          <p:nvPr/>
        </p:nvSpPr>
        <p:spPr>
          <a:xfrm>
            <a:off x="4471416" y="1499616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</a:t>
            </a:r>
            <a:endParaRPr lang="en-US" sz="1070" dirty="0"/>
          </a:p>
        </p:txBody>
      </p:sp>
      <p:sp>
        <p:nvSpPr>
          <p:cNvPr id="25" name="Text 23"/>
          <p:cNvSpPr/>
          <p:nvPr/>
        </p:nvSpPr>
        <p:spPr>
          <a:xfrm>
            <a:off x="6483096" y="1499616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1070" dirty="0"/>
          </a:p>
        </p:txBody>
      </p:sp>
      <p:sp>
        <p:nvSpPr>
          <p:cNvPr id="26" name="Text 24"/>
          <p:cNvSpPr/>
          <p:nvPr/>
        </p:nvSpPr>
        <p:spPr>
          <a:xfrm>
            <a:off x="7946136" y="1499616"/>
            <a:ext cx="3584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</a:t>
            </a:r>
            <a:endParaRPr lang="en-US" sz="1070" dirty="0"/>
          </a:p>
        </p:txBody>
      </p:sp>
      <p:sp>
        <p:nvSpPr>
          <p:cNvPr id="27" name="Text 25"/>
          <p:cNvSpPr/>
          <p:nvPr/>
        </p:nvSpPr>
        <p:spPr>
          <a:xfrm>
            <a:off x="630936" y="1956816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</a:t>
            </a:r>
            <a:endParaRPr lang="en-US" sz="960" dirty="0"/>
          </a:p>
        </p:txBody>
      </p:sp>
      <p:sp>
        <p:nvSpPr>
          <p:cNvPr id="28" name="Text 26"/>
          <p:cNvSpPr/>
          <p:nvPr/>
        </p:nvSpPr>
        <p:spPr>
          <a:xfrm>
            <a:off x="1271016" y="195681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2019</a:t>
            </a:r>
            <a:endParaRPr lang="en-US" sz="960" dirty="0"/>
          </a:p>
        </p:txBody>
      </p:sp>
      <p:sp>
        <p:nvSpPr>
          <p:cNvPr id="29" name="Text 27"/>
          <p:cNvSpPr/>
          <p:nvPr/>
        </p:nvSpPr>
        <p:spPr>
          <a:xfrm>
            <a:off x="2093976" y="1956816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Method ]</a:t>
            </a:r>
            <a:endParaRPr lang="en-US" sz="960" dirty="0"/>
          </a:p>
        </p:txBody>
      </p:sp>
      <p:sp>
        <p:nvSpPr>
          <p:cNvPr id="30" name="Text 28"/>
          <p:cNvSpPr/>
          <p:nvPr/>
        </p:nvSpPr>
        <p:spPr>
          <a:xfrm>
            <a:off x="4471416" y="1956816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Dataset ]</a:t>
            </a:r>
            <a:endParaRPr lang="en-US" sz="960" dirty="0"/>
          </a:p>
        </p:txBody>
      </p:sp>
      <p:sp>
        <p:nvSpPr>
          <p:cNvPr id="31" name="Text 29"/>
          <p:cNvSpPr/>
          <p:nvPr/>
        </p:nvSpPr>
        <p:spPr>
          <a:xfrm>
            <a:off x="6483096" y="1956816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[ 00.0% ]</a:t>
            </a:r>
            <a:endParaRPr lang="en-US" sz="960" dirty="0"/>
          </a:p>
        </p:txBody>
      </p:sp>
      <p:sp>
        <p:nvSpPr>
          <p:cNvPr id="32" name="Text 30"/>
          <p:cNvSpPr/>
          <p:nvPr/>
        </p:nvSpPr>
        <p:spPr>
          <a:xfrm>
            <a:off x="7946136" y="1956816"/>
            <a:ext cx="3584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Limitation ]</a:t>
            </a:r>
            <a:endParaRPr lang="en-US" sz="960" dirty="0"/>
          </a:p>
        </p:txBody>
      </p:sp>
      <p:sp>
        <p:nvSpPr>
          <p:cNvPr id="33" name="Text 31"/>
          <p:cNvSpPr/>
          <p:nvPr/>
        </p:nvSpPr>
        <p:spPr>
          <a:xfrm>
            <a:off x="630936" y="2414016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[2]</a:t>
            </a:r>
            <a:endParaRPr lang="en-US" sz="960" dirty="0"/>
          </a:p>
        </p:txBody>
      </p:sp>
      <p:sp>
        <p:nvSpPr>
          <p:cNvPr id="34" name="Text 32"/>
          <p:cNvSpPr/>
          <p:nvPr/>
        </p:nvSpPr>
        <p:spPr>
          <a:xfrm>
            <a:off x="1271016" y="241401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</a:t>
            </a:r>
            <a:endParaRPr lang="en-US" sz="960" dirty="0"/>
          </a:p>
        </p:txBody>
      </p:sp>
      <p:sp>
        <p:nvSpPr>
          <p:cNvPr id="35" name="Text 33"/>
          <p:cNvSpPr/>
          <p:nvPr/>
        </p:nvSpPr>
        <p:spPr>
          <a:xfrm>
            <a:off x="2093976" y="2414016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Method ]</a:t>
            </a:r>
            <a:endParaRPr lang="en-US" sz="960" dirty="0"/>
          </a:p>
        </p:txBody>
      </p:sp>
      <p:sp>
        <p:nvSpPr>
          <p:cNvPr id="36" name="Text 34"/>
          <p:cNvSpPr/>
          <p:nvPr/>
        </p:nvSpPr>
        <p:spPr>
          <a:xfrm>
            <a:off x="4471416" y="2414016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Dataset ]</a:t>
            </a:r>
            <a:endParaRPr lang="en-US" sz="960" dirty="0"/>
          </a:p>
        </p:txBody>
      </p:sp>
      <p:sp>
        <p:nvSpPr>
          <p:cNvPr id="37" name="Text 35"/>
          <p:cNvSpPr/>
          <p:nvPr/>
        </p:nvSpPr>
        <p:spPr>
          <a:xfrm>
            <a:off x="6483096" y="2414016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[ 00.0% ]</a:t>
            </a:r>
            <a:endParaRPr lang="en-US" sz="960" dirty="0"/>
          </a:p>
        </p:txBody>
      </p:sp>
      <p:sp>
        <p:nvSpPr>
          <p:cNvPr id="38" name="Text 36"/>
          <p:cNvSpPr/>
          <p:nvPr/>
        </p:nvSpPr>
        <p:spPr>
          <a:xfrm>
            <a:off x="7946136" y="2414016"/>
            <a:ext cx="3584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Limitation ]</a:t>
            </a:r>
            <a:endParaRPr lang="en-US" sz="960" dirty="0"/>
          </a:p>
        </p:txBody>
      </p:sp>
      <p:sp>
        <p:nvSpPr>
          <p:cNvPr id="39" name="Text 37"/>
          <p:cNvSpPr/>
          <p:nvPr/>
        </p:nvSpPr>
        <p:spPr>
          <a:xfrm>
            <a:off x="630936" y="2871216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[3]</a:t>
            </a:r>
            <a:endParaRPr lang="en-US" sz="960" dirty="0"/>
          </a:p>
        </p:txBody>
      </p:sp>
      <p:sp>
        <p:nvSpPr>
          <p:cNvPr id="40" name="Text 38"/>
          <p:cNvSpPr/>
          <p:nvPr/>
        </p:nvSpPr>
        <p:spPr>
          <a:xfrm>
            <a:off x="1271016" y="287121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</a:t>
            </a:r>
            <a:endParaRPr lang="en-US" sz="960" dirty="0"/>
          </a:p>
        </p:txBody>
      </p:sp>
      <p:sp>
        <p:nvSpPr>
          <p:cNvPr id="41" name="Text 39"/>
          <p:cNvSpPr/>
          <p:nvPr/>
        </p:nvSpPr>
        <p:spPr>
          <a:xfrm>
            <a:off x="2093976" y="2871216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Method ]</a:t>
            </a:r>
            <a:endParaRPr lang="en-US" sz="960" dirty="0"/>
          </a:p>
        </p:txBody>
      </p:sp>
      <p:sp>
        <p:nvSpPr>
          <p:cNvPr id="42" name="Text 40"/>
          <p:cNvSpPr/>
          <p:nvPr/>
        </p:nvSpPr>
        <p:spPr>
          <a:xfrm>
            <a:off x="4471416" y="2871216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Dataset ]</a:t>
            </a:r>
            <a:endParaRPr lang="en-US" sz="960" dirty="0"/>
          </a:p>
        </p:txBody>
      </p:sp>
      <p:sp>
        <p:nvSpPr>
          <p:cNvPr id="43" name="Text 41"/>
          <p:cNvSpPr/>
          <p:nvPr/>
        </p:nvSpPr>
        <p:spPr>
          <a:xfrm>
            <a:off x="6483096" y="2871216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[ 00.0% ]</a:t>
            </a:r>
            <a:endParaRPr lang="en-US" sz="960" dirty="0"/>
          </a:p>
        </p:txBody>
      </p:sp>
      <p:sp>
        <p:nvSpPr>
          <p:cNvPr id="44" name="Text 42"/>
          <p:cNvSpPr/>
          <p:nvPr/>
        </p:nvSpPr>
        <p:spPr>
          <a:xfrm>
            <a:off x="7946136" y="2871216"/>
            <a:ext cx="3584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Limitation ]</a:t>
            </a:r>
            <a:endParaRPr lang="en-US" sz="960" dirty="0"/>
          </a:p>
        </p:txBody>
      </p:sp>
      <p:sp>
        <p:nvSpPr>
          <p:cNvPr id="45" name="Text 43"/>
          <p:cNvSpPr/>
          <p:nvPr/>
        </p:nvSpPr>
        <p:spPr>
          <a:xfrm>
            <a:off x="630936" y="3328416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[4]</a:t>
            </a:r>
            <a:endParaRPr lang="en-US" sz="960" dirty="0"/>
          </a:p>
        </p:txBody>
      </p:sp>
      <p:sp>
        <p:nvSpPr>
          <p:cNvPr id="46" name="Text 44"/>
          <p:cNvSpPr/>
          <p:nvPr/>
        </p:nvSpPr>
        <p:spPr>
          <a:xfrm>
            <a:off x="1271016" y="332841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</a:t>
            </a:r>
            <a:endParaRPr lang="en-US" sz="960" dirty="0"/>
          </a:p>
        </p:txBody>
      </p:sp>
      <p:sp>
        <p:nvSpPr>
          <p:cNvPr id="47" name="Text 45"/>
          <p:cNvSpPr/>
          <p:nvPr/>
        </p:nvSpPr>
        <p:spPr>
          <a:xfrm>
            <a:off x="2093976" y="3328416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Method ]</a:t>
            </a:r>
            <a:endParaRPr lang="en-US" sz="960" dirty="0"/>
          </a:p>
        </p:txBody>
      </p:sp>
      <p:sp>
        <p:nvSpPr>
          <p:cNvPr id="48" name="Text 46"/>
          <p:cNvSpPr/>
          <p:nvPr/>
        </p:nvSpPr>
        <p:spPr>
          <a:xfrm>
            <a:off x="4471416" y="3328416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Dataset ]</a:t>
            </a:r>
            <a:endParaRPr lang="en-US" sz="960" dirty="0"/>
          </a:p>
        </p:txBody>
      </p:sp>
      <p:sp>
        <p:nvSpPr>
          <p:cNvPr id="49" name="Text 47"/>
          <p:cNvSpPr/>
          <p:nvPr/>
        </p:nvSpPr>
        <p:spPr>
          <a:xfrm>
            <a:off x="6483096" y="3328416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[ 00.0% ]</a:t>
            </a:r>
            <a:endParaRPr lang="en-US" sz="960" dirty="0"/>
          </a:p>
        </p:txBody>
      </p:sp>
      <p:sp>
        <p:nvSpPr>
          <p:cNvPr id="50" name="Text 48"/>
          <p:cNvSpPr/>
          <p:nvPr/>
        </p:nvSpPr>
        <p:spPr>
          <a:xfrm>
            <a:off x="7946136" y="3328416"/>
            <a:ext cx="3584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Limitation ]</a:t>
            </a:r>
            <a:endParaRPr lang="en-US" sz="960" dirty="0"/>
          </a:p>
        </p:txBody>
      </p:sp>
      <p:sp>
        <p:nvSpPr>
          <p:cNvPr id="51" name="Text 49"/>
          <p:cNvSpPr/>
          <p:nvPr/>
        </p:nvSpPr>
        <p:spPr>
          <a:xfrm>
            <a:off x="630936" y="3785616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[5]</a:t>
            </a:r>
            <a:endParaRPr lang="en-US" sz="960" dirty="0"/>
          </a:p>
        </p:txBody>
      </p:sp>
      <p:sp>
        <p:nvSpPr>
          <p:cNvPr id="52" name="Text 50"/>
          <p:cNvSpPr/>
          <p:nvPr/>
        </p:nvSpPr>
        <p:spPr>
          <a:xfrm>
            <a:off x="1271016" y="378561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</a:t>
            </a:r>
            <a:endParaRPr lang="en-US" sz="960" dirty="0"/>
          </a:p>
        </p:txBody>
      </p:sp>
      <p:sp>
        <p:nvSpPr>
          <p:cNvPr id="53" name="Text 51"/>
          <p:cNvSpPr/>
          <p:nvPr/>
        </p:nvSpPr>
        <p:spPr>
          <a:xfrm>
            <a:off x="2093976" y="3785616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Method ]</a:t>
            </a:r>
            <a:endParaRPr lang="en-US" sz="960" dirty="0"/>
          </a:p>
        </p:txBody>
      </p:sp>
      <p:sp>
        <p:nvSpPr>
          <p:cNvPr id="54" name="Text 52"/>
          <p:cNvSpPr/>
          <p:nvPr/>
        </p:nvSpPr>
        <p:spPr>
          <a:xfrm>
            <a:off x="4471416" y="3785616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Dataset ]</a:t>
            </a:r>
            <a:endParaRPr lang="en-US" sz="960" dirty="0"/>
          </a:p>
        </p:txBody>
      </p:sp>
      <p:sp>
        <p:nvSpPr>
          <p:cNvPr id="55" name="Text 53"/>
          <p:cNvSpPr/>
          <p:nvPr/>
        </p:nvSpPr>
        <p:spPr>
          <a:xfrm>
            <a:off x="6483096" y="3785616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[ 00.0% ]</a:t>
            </a:r>
            <a:endParaRPr lang="en-US" sz="960" dirty="0"/>
          </a:p>
        </p:txBody>
      </p:sp>
      <p:sp>
        <p:nvSpPr>
          <p:cNvPr id="56" name="Text 54"/>
          <p:cNvSpPr/>
          <p:nvPr/>
        </p:nvSpPr>
        <p:spPr>
          <a:xfrm>
            <a:off x="7946136" y="3785616"/>
            <a:ext cx="3584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Limitation ]</a:t>
            </a:r>
            <a:endParaRPr lang="en-US" sz="960" dirty="0"/>
          </a:p>
        </p:txBody>
      </p:sp>
      <p:sp>
        <p:nvSpPr>
          <p:cNvPr id="57" name="Text 55"/>
          <p:cNvSpPr/>
          <p:nvPr/>
        </p:nvSpPr>
        <p:spPr>
          <a:xfrm>
            <a:off x="630936" y="4242816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[6]</a:t>
            </a:r>
            <a:endParaRPr lang="en-US" sz="960" dirty="0"/>
          </a:p>
        </p:txBody>
      </p:sp>
      <p:sp>
        <p:nvSpPr>
          <p:cNvPr id="58" name="Text 56"/>
          <p:cNvSpPr/>
          <p:nvPr/>
        </p:nvSpPr>
        <p:spPr>
          <a:xfrm>
            <a:off x="1271016" y="424281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960" dirty="0"/>
          </a:p>
        </p:txBody>
      </p:sp>
      <p:sp>
        <p:nvSpPr>
          <p:cNvPr id="59" name="Text 57"/>
          <p:cNvSpPr/>
          <p:nvPr/>
        </p:nvSpPr>
        <p:spPr>
          <a:xfrm>
            <a:off x="2093976" y="4242816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Method ]</a:t>
            </a:r>
            <a:endParaRPr lang="en-US" sz="960" dirty="0"/>
          </a:p>
        </p:txBody>
      </p:sp>
      <p:sp>
        <p:nvSpPr>
          <p:cNvPr id="60" name="Text 58"/>
          <p:cNvSpPr/>
          <p:nvPr/>
        </p:nvSpPr>
        <p:spPr>
          <a:xfrm>
            <a:off x="4471416" y="4242816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Dataset ]</a:t>
            </a:r>
            <a:endParaRPr lang="en-US" sz="960" dirty="0"/>
          </a:p>
        </p:txBody>
      </p:sp>
      <p:sp>
        <p:nvSpPr>
          <p:cNvPr id="61" name="Text 59"/>
          <p:cNvSpPr/>
          <p:nvPr/>
        </p:nvSpPr>
        <p:spPr>
          <a:xfrm>
            <a:off x="6483096" y="4242816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[ 00.0% ]</a:t>
            </a:r>
            <a:endParaRPr lang="en-US" sz="960" dirty="0"/>
          </a:p>
        </p:txBody>
      </p:sp>
      <p:sp>
        <p:nvSpPr>
          <p:cNvPr id="62" name="Text 60"/>
          <p:cNvSpPr/>
          <p:nvPr/>
        </p:nvSpPr>
        <p:spPr>
          <a:xfrm>
            <a:off x="7946136" y="4242816"/>
            <a:ext cx="3584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Limitation ]</a:t>
            </a:r>
            <a:endParaRPr lang="en-US" sz="960" dirty="0"/>
          </a:p>
        </p:txBody>
      </p:sp>
      <p:sp>
        <p:nvSpPr>
          <p:cNvPr id="63" name="Text 61"/>
          <p:cNvSpPr/>
          <p:nvPr/>
        </p:nvSpPr>
        <p:spPr>
          <a:xfrm>
            <a:off x="630936" y="4700016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[7]</a:t>
            </a:r>
            <a:endParaRPr lang="en-US" sz="960" dirty="0"/>
          </a:p>
        </p:txBody>
      </p:sp>
      <p:sp>
        <p:nvSpPr>
          <p:cNvPr id="64" name="Text 62"/>
          <p:cNvSpPr/>
          <p:nvPr/>
        </p:nvSpPr>
        <p:spPr>
          <a:xfrm>
            <a:off x="1271016" y="470001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960" dirty="0"/>
          </a:p>
        </p:txBody>
      </p:sp>
      <p:sp>
        <p:nvSpPr>
          <p:cNvPr id="65" name="Text 63"/>
          <p:cNvSpPr/>
          <p:nvPr/>
        </p:nvSpPr>
        <p:spPr>
          <a:xfrm>
            <a:off x="2093976" y="4700016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Method ]</a:t>
            </a:r>
            <a:endParaRPr lang="en-US" sz="960" dirty="0"/>
          </a:p>
        </p:txBody>
      </p:sp>
      <p:sp>
        <p:nvSpPr>
          <p:cNvPr id="66" name="Text 64"/>
          <p:cNvSpPr/>
          <p:nvPr/>
        </p:nvSpPr>
        <p:spPr>
          <a:xfrm>
            <a:off x="4471416" y="4700016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Dataset ]</a:t>
            </a:r>
            <a:endParaRPr lang="en-US" sz="960" dirty="0"/>
          </a:p>
        </p:txBody>
      </p:sp>
      <p:sp>
        <p:nvSpPr>
          <p:cNvPr id="67" name="Text 65"/>
          <p:cNvSpPr/>
          <p:nvPr/>
        </p:nvSpPr>
        <p:spPr>
          <a:xfrm>
            <a:off x="6483096" y="4700016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[ 00.0% ]</a:t>
            </a:r>
            <a:endParaRPr lang="en-US" sz="960" dirty="0"/>
          </a:p>
        </p:txBody>
      </p:sp>
      <p:sp>
        <p:nvSpPr>
          <p:cNvPr id="68" name="Text 66"/>
          <p:cNvSpPr/>
          <p:nvPr/>
        </p:nvSpPr>
        <p:spPr>
          <a:xfrm>
            <a:off x="7946136" y="4700016"/>
            <a:ext cx="3584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Limitation ]</a:t>
            </a:r>
            <a:endParaRPr lang="en-US" sz="960" dirty="0"/>
          </a:p>
        </p:txBody>
      </p:sp>
      <p:sp>
        <p:nvSpPr>
          <p:cNvPr id="69" name="Text 67"/>
          <p:cNvSpPr/>
          <p:nvPr/>
        </p:nvSpPr>
        <p:spPr>
          <a:xfrm>
            <a:off x="621792" y="5806440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Tip: point out two or three important rows only during presentation.</a:t>
            </a:r>
            <a:endParaRPr lang="en-US" sz="1050" dirty="0"/>
          </a:p>
        </p:txBody>
      </p:sp>
      <p:sp>
        <p:nvSpPr>
          <p:cNvPr id="71" name="Text 68"/>
          <p:cNvSpPr/>
          <p:nvPr/>
        </p:nvSpPr>
        <p:spPr>
          <a:xfrm>
            <a:off x="11228832" y="643737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93192"/>
            <a:ext cx="85953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84124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papers were searched, screened and selected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58368" y="1161288"/>
            <a:ext cx="1051560" cy="0"/>
          </a:xfrm>
          <a:prstGeom prst="line">
            <a:avLst/>
          </a:prstGeom>
          <a:noFill/>
          <a:ln w="1905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362456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1078992" y="1353312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[ IEEE Xplore, ScienceDirect, Google Scholar ]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175564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78992" y="1746504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terms: [ your exact keywords ]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214884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078992" y="2139696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range: [ 2019–2025 ]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22960" y="254203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078992" y="2532888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Inclusion: peer-reviewed, English, reports results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22960" y="2935224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078992" y="292608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Exclusion: no results, off-topic, duplicate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2960" y="3328416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078992" y="3319272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selection: 10 papers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833872" y="1261872"/>
            <a:ext cx="3401568" cy="329184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C8D1D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databases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452360" y="1664208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833872" y="1975104"/>
            <a:ext cx="3401568" cy="329184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C8D1D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duplicates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452360" y="2377440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833872" y="2688336"/>
            <a:ext cx="3401568" cy="329184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C8D1D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title/abstract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452360" y="3090672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833872" y="3401568"/>
            <a:ext cx="3401568" cy="329184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C8D1D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full text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452360" y="3803904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833872" y="4114800"/>
            <a:ext cx="3401568" cy="329184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C8D1D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data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452360" y="4517136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833872" y="4828032"/>
            <a:ext cx="3401568" cy="329184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C8D1D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findings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646920" y="1965960"/>
            <a:ext cx="1463040" cy="1645920"/>
          </a:xfrm>
          <a:prstGeom prst="rect">
            <a:avLst/>
          </a:prstGeom>
          <a:noFill/>
          <a:ln w="10160">
            <a:solidFill>
              <a:srgbClr val="C8D1D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your final flow diagram here if you have a designed version.</a:t>
            </a:r>
            <a:endParaRPr lang="en-US" sz="1020" dirty="0"/>
          </a:p>
        </p:txBody>
      </p:sp>
      <p:sp>
        <p:nvSpPr>
          <p:cNvPr id="30" name="Text 27"/>
          <p:cNvSpPr/>
          <p:nvPr/>
        </p:nvSpPr>
        <p:spPr>
          <a:xfrm>
            <a:off x="11228832" y="643737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93192"/>
            <a:ext cx="85953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— [ What You Compared ]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84124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this chart with your own data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58368" y="1161288"/>
            <a:ext cx="1051560" cy="0"/>
          </a:xfrm>
          <a:prstGeom prst="line">
            <a:avLst/>
          </a:prstGeom>
          <a:noFill/>
          <a:ln w="1905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5" name="Chart 0"/>
          <p:cNvGraphicFramePr/>
          <p:nvPr/>
        </p:nvGraphicFramePr>
        <p:xfrm>
          <a:off x="731520" y="1417320"/>
          <a:ext cx="6126480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7406640" y="1444752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chart shows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24928" y="2066544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680960" y="20574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Point 1 — the trend you see ]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424928" y="2706624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680960" y="26974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Point 2 — which method is best ]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424928" y="3346704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680960" y="33375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Point 3 — is the comparison fair? ]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1228832" y="643737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93192"/>
            <a:ext cx="85953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84124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comparison actually tells us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58368" y="1161288"/>
            <a:ext cx="1051560" cy="0"/>
          </a:xfrm>
          <a:prstGeom prst="line">
            <a:avLst/>
          </a:prstGeom>
          <a:noFill/>
          <a:ln w="1905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143560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3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35608" y="1417320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48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approach works best</a:t>
            </a:r>
            <a:endParaRPr lang="en-US" sz="1480" dirty="0"/>
          </a:p>
        </p:txBody>
      </p:sp>
      <p:sp>
        <p:nvSpPr>
          <p:cNvPr id="7" name="Text 5"/>
          <p:cNvSpPr/>
          <p:nvPr/>
        </p:nvSpPr>
        <p:spPr>
          <a:xfrm>
            <a:off x="1435608" y="1655064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and under which condition ]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68680" y="2112264"/>
            <a:ext cx="5029200" cy="0"/>
          </a:xfrm>
          <a:prstGeom prst="line">
            <a:avLst/>
          </a:prstGeom>
          <a:noFill/>
          <a:ln w="7620">
            <a:solidFill>
              <a:srgbClr val="C8D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68680" y="294436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3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2926080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48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some results look higher</a:t>
            </a:r>
            <a:endParaRPr lang="en-US" sz="1480" dirty="0"/>
          </a:p>
        </p:txBody>
      </p:sp>
      <p:sp>
        <p:nvSpPr>
          <p:cNvPr id="11" name="Text 9"/>
          <p:cNvSpPr/>
          <p:nvPr/>
        </p:nvSpPr>
        <p:spPr>
          <a:xfrm>
            <a:off x="1435608" y="3163824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better model, or easier dataset? ]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68680" y="3621024"/>
            <a:ext cx="5029200" cy="0"/>
          </a:xfrm>
          <a:prstGeom prst="line">
            <a:avLst/>
          </a:prstGeom>
          <a:noFill/>
          <a:ln w="7620">
            <a:solidFill>
              <a:srgbClr val="C8D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92240" y="143560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3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059168" y="1417320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48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the results comparable?</a:t>
            </a:r>
            <a:endParaRPr lang="en-US" sz="1480" dirty="0"/>
          </a:p>
        </p:txBody>
      </p:sp>
      <p:sp>
        <p:nvSpPr>
          <p:cNvPr id="15" name="Text 13"/>
          <p:cNvSpPr/>
          <p:nvPr/>
        </p:nvSpPr>
        <p:spPr>
          <a:xfrm>
            <a:off x="7059168" y="1655064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different splits and datasets make it unfair ]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92240" y="2112264"/>
            <a:ext cx="4846320" cy="0"/>
          </a:xfrm>
          <a:prstGeom prst="line">
            <a:avLst/>
          </a:prstGeom>
          <a:noFill/>
          <a:ln w="7620">
            <a:solidFill>
              <a:srgbClr val="C8D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92240" y="294436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3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059168" y="2926080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48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almost everyone ignored</a:t>
            </a:r>
            <a:endParaRPr lang="en-US" sz="1480" dirty="0"/>
          </a:p>
        </p:txBody>
      </p:sp>
      <p:sp>
        <p:nvSpPr>
          <p:cNvPr id="19" name="Text 17"/>
          <p:cNvSpPr/>
          <p:nvPr/>
        </p:nvSpPr>
        <p:spPr>
          <a:xfrm>
            <a:off x="7059168" y="3163824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e.g. class imbalance, external validation ]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92240" y="3621024"/>
            <a:ext cx="4846320" cy="0"/>
          </a:xfrm>
          <a:prstGeom prst="line">
            <a:avLst/>
          </a:prstGeom>
          <a:noFill/>
          <a:ln w="7620">
            <a:solidFill>
              <a:srgbClr val="C8D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11228832" y="643737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93192"/>
            <a:ext cx="85953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84124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things a listener should remember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58368" y="1161288"/>
            <a:ext cx="1051560" cy="0"/>
          </a:xfrm>
          <a:prstGeom prst="line">
            <a:avLst/>
          </a:prstGeom>
          <a:noFill/>
          <a:ln w="1905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A23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[ 00 ]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1325880" y="2587752"/>
            <a:ext cx="1965960" cy="0"/>
          </a:xfrm>
          <a:prstGeom prst="line">
            <a:avLst/>
          </a:prstGeom>
          <a:noFill/>
          <a:ln w="1524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15568" y="288036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10 papers used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the same method ]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663440" y="18288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A23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[ 00% ]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5074920" y="2587752"/>
            <a:ext cx="1965960" cy="0"/>
          </a:xfrm>
          <a:prstGeom prst="line">
            <a:avLst/>
          </a:prstGeom>
          <a:noFill/>
          <a:ln w="1524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64608" y="288036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 accuracy reported by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reference ]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412480" y="18288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A23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[ 00 ]</a:t>
            </a:r>
            <a:endParaRPr 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8823960" y="2587752"/>
            <a:ext cx="1965960" cy="0"/>
          </a:xfrm>
          <a:prstGeom prst="line">
            <a:avLst/>
          </a:prstGeom>
          <a:noFill/>
          <a:ln w="1524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613648" y="288036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papers ignored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the common problem ]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1228832" y="643737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93192"/>
            <a:ext cx="85953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 and Future Work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84124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Being honest about your own review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58368" y="1161288"/>
            <a:ext cx="1051560" cy="0"/>
          </a:xfrm>
          <a:prstGeom prst="line">
            <a:avLst/>
          </a:prstGeom>
          <a:noFill/>
          <a:ln w="1905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14173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 of this review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32688" y="1883664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874520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Only 10 papers were reviewed ]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32688" y="235915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2350008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Only English publications ]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32688" y="283464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2825496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Only [ years ] were covered ]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32688" y="331012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88720" y="3300984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No experiment was performed ]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989320" y="1417320"/>
            <a:ext cx="0" cy="3977640"/>
          </a:xfrm>
          <a:prstGeom prst="line">
            <a:avLst/>
          </a:prstGeom>
          <a:noFill/>
          <a:ln w="10160">
            <a:solidFill>
              <a:srgbClr val="C8D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46520" y="14173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work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510528" y="1883664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766560" y="187452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Review more papers or more years ]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10528" y="235915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766560" y="2350008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Test the methods on a common dataset ]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10528" y="283464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766560" y="2825496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Study the problem everyone ignored ]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510528" y="331012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766560" y="3300984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Your own idea ]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11228832" y="643737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93192"/>
            <a:ext cx="85953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84124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new information here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58368" y="1161288"/>
            <a:ext cx="1051560" cy="0"/>
          </a:xfrm>
          <a:prstGeom prst="line">
            <a:avLst/>
          </a:prstGeom>
          <a:noFill/>
          <a:ln w="1905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3000" y="1600200"/>
            <a:ext cx="9692640" cy="3383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2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 This review analysed 10 papers on ... ]</a:t>
            </a:r>
            <a:endParaRPr lang="en-US" sz="2200" dirty="0"/>
          </a:p>
          <a:p>
            <a:pPr marL="0" indent="0" algn="ctr">
              <a:buNone/>
            </a:pPr>
            <a:endParaRPr lang="en-US" sz="2200" dirty="0"/>
          </a:p>
          <a:p>
            <a:pPr marL="0" indent="0" algn="ctr">
              <a:buNone/>
            </a:pPr>
            <a:r>
              <a:rPr lang="en-US" sz="22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 The main finding is ... ]</a:t>
            </a:r>
            <a:endParaRPr lang="en-US" sz="2200" dirty="0"/>
          </a:p>
          <a:p>
            <a:pPr marL="0" indent="0" algn="ctr">
              <a:buNone/>
            </a:pPr>
            <a:endParaRPr lang="en-US" sz="2200" dirty="0"/>
          </a:p>
          <a:p>
            <a:pPr marL="0" indent="0" algn="ctr">
              <a:buNone/>
            </a:pPr>
            <a:r>
              <a:rPr lang="en-US" sz="22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 The second finding is ... ]</a:t>
            </a:r>
            <a:endParaRPr lang="en-US" sz="2200" dirty="0"/>
          </a:p>
          <a:p>
            <a:pPr marL="0" indent="0" algn="ctr">
              <a:buNone/>
            </a:pPr>
            <a:endParaRPr lang="en-US" sz="2200" dirty="0"/>
          </a:p>
          <a:p>
            <a:pPr marL="0" indent="0" algn="ctr">
              <a:buNone/>
            </a:pPr>
            <a:r>
              <a:rPr lang="en-US" sz="22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 The main open problem in this field is ... ]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1228832" y="643737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93192"/>
            <a:ext cx="85953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84124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references only — keep the full list in the paper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58368" y="1161288"/>
            <a:ext cx="1051560" cy="0"/>
          </a:xfrm>
          <a:prstGeom prst="line">
            <a:avLst/>
          </a:prstGeom>
          <a:noFill/>
          <a:ln w="1905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325880"/>
            <a:ext cx="10607040" cy="2788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  A. Author, B. Author, "Title of the paper," Journal Name, vol. 0, no. 0, pp. 00–00, 2019.</a:t>
            </a:r>
            <a:endParaRPr lang="en-US" sz="1160" dirty="0"/>
          </a:p>
          <a:p>
            <a:pPr marL="0" indent="0">
              <a:buNone/>
            </a:pPr>
            <a:r>
              <a:rPr lang="en-US" sz="11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[2]  C. Author, "Title of the paper," in Proc. Conference Name, City, Country, 2021, pp. 00–00.</a:t>
            </a:r>
            <a:endParaRPr lang="en-US" sz="1160" dirty="0"/>
          </a:p>
          <a:p>
            <a:pPr marL="0" indent="0">
              <a:buNone/>
            </a:pPr>
            <a:r>
              <a:rPr lang="en-US" sz="11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[3]  D. Author et al., "Title of the paper," Journal Name, vol. 0, pp. 00–00, 2023.</a:t>
            </a:r>
            <a:endParaRPr lang="en-US" sz="1160" dirty="0"/>
          </a:p>
          <a:p>
            <a:pPr marL="0" indent="0">
              <a:buNone/>
            </a:pPr>
            <a:r>
              <a:rPr lang="en-US" sz="11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[4]  E. Author, "Title of the paper," arXiv:0000.00000, 2024.</a:t>
            </a:r>
            <a:endParaRPr lang="en-US" sz="1160" dirty="0"/>
          </a:p>
          <a:p>
            <a:pPr marL="0" indent="0">
              <a:buNone/>
            </a:pPr>
            <a:endParaRPr lang="en-US" sz="1160" dirty="0"/>
          </a:p>
          <a:p>
            <a:pPr marL="0" indent="0">
              <a:buNone/>
            </a:pPr>
            <a:r>
              <a:rPr lang="en-US" sz="11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 Show only the main references here. The full list stays in the paper. )</a:t>
            </a:r>
            <a:endParaRPr lang="en-US" sz="1160" dirty="0"/>
          </a:p>
        </p:txBody>
      </p:sp>
      <p:sp>
        <p:nvSpPr>
          <p:cNvPr id="6" name="Text 4"/>
          <p:cNvSpPr/>
          <p:nvPr/>
        </p:nvSpPr>
        <p:spPr>
          <a:xfrm>
            <a:off x="804672" y="473659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A23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You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11228832" y="643737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1529</Words>
  <Application>Microsoft Office PowerPoint</Application>
  <PresentationFormat>Widescreen</PresentationFormat>
  <Paragraphs>290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Department of Computer Science and Engineering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Review Paper Presentation Template - Black Navy White</dc:title>
  <dc:subject>Review Paper Presentation Template</dc:subject>
  <dc:creator>Shovon Mandal</dc:creator>
  <cp:lastModifiedBy>Shovon Mandal</cp:lastModifiedBy>
  <cp:revision>2</cp:revision>
  <dcterms:created xsi:type="dcterms:W3CDTF">2026-09-17T20:41:56Z</dcterms:created>
  <dcterms:modified xsi:type="dcterms:W3CDTF">2026-09-17T21:10:16Z</dcterms:modified>
</cp:coreProperties>
</file>